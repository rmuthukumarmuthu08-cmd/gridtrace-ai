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E5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C3E52"/>
                </a:solidFill>
                <a:latin typeface="Calibri"/>
              </a:rPr>
              <a:t>AT&amp;C losses, % of energy input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AT&amp;C losses</c:v>
                </c:pt>
              </c:strCache>
            </c:strRef>
          </c:tx>
          <c:spPr>
            <a:solidFill>
              <a:srgbClr val="B4530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530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30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530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FY 2021</c:v>
                  </c:pt>
                  <c:pt idx="1">
                    <c:v>2023</c:v>
                  </c:pt>
                  <c:pt idx="2">
                    <c:v>FY 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21.91</c:v>
                </c:pt>
                <c:pt idx="1">
                  <c:v>15.5</c:v>
                </c:pt>
                <c:pt idx="2">
                  <c:v>16.16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22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12700" cap="flat">
              <a:solidFill>
                <a:srgbClr val="DD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C3E52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2C3E52"/>
                </a:solidFill>
                <a:latin typeface="Calibri"/>
              </a:rPr>
              <a:t>Feeder gap by scenario, % (measured)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Instantaneous unaccounted power</c:v>
                </c:pt>
              </c:strCache>
            </c:strRef>
          </c:tx>
          <c:spPr>
            <a:solidFill>
              <a:srgbClr val="1771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71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30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53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241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Normal</c:v>
                  </c:pt>
                  <c:pt idx="1">
                    <c:v>Abnormal</c:v>
                  </c:pt>
                  <c:pt idx="2">
                    <c:v>Persistent</c:v>
                  </c:pt>
                  <c:pt idx="3">
                    <c:v>Imbalance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4.4</c:v>
                </c:pt>
                <c:pt idx="2">
                  <c:v>8.25</c:v>
                </c:pt>
                <c:pt idx="3">
                  <c:v>13.79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3E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12700" cap="flat">
              <a:solidFill>
                <a:srgbClr val="DD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GridTrace AI. The one line to remember: this system is as careful about who it does NOT accuse as about what it detects.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central difficulty: the four causes are indistinguishable in raw billing data. That is why a detector alone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plateau is the whole argument. Capital fixed the easy losses; what is left needs attribution, not more copper.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to existing tools — they work at what they do. The gap is between an alarm and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honesty line out loud — judges reward a team that knows exactly what it did and did not invent.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whole thing is running now, locally, and can be demonstrated in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severity transform is the detail worth naming — it is why normal data does not sit at 50/100.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is reproducible in front of the judges in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restraint. It is the most defensible thing about the project and the hardest thing for a competing team to retrofit.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7373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GridTrace AI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energy loss — and knowing when not to blame anyone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3101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Isolation Forest + autoencoder anomaly detection with hierarchical localization and explainable investigation scoring.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343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16.16%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AT&amp;C losses, FY25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24528" y="4343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data correctly left alone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82128" y="4343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events not blamed on a consumer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Nirmal (Muthukumar R)  ·  Team Squad Mavericks  ·  Sustainable Energy &amp; Resource Innovation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is delivered. Some of it is never accounted for.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029200" cy="3246120"/>
          </a:xfrm>
          <a:prstGeom prst="roundRect">
            <a:avLst>
              <a:gd name="adj" fmla="val 1690"/>
            </a:avLst>
          </a:prstGeom>
          <a:solidFill>
            <a:srgbClr val="F1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965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16.16%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926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energy entering India's distribution network is lost as Aggregate Technical &amp; Commercial (AT&amp;C) loss — FY25, Ministry of Power.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931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lost is billed to somebody: honest consumers through tariffs, or the state through subsidy.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97880" y="1746504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9788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loss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Resistive heating in lines and transformers. Physics. Always present, roughly 3%.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97880" y="2587752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328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metering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8072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meter that drifts or under-registers looks identical to loss in the billing 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97880" y="3429000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9788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3741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Metering / data gaps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6484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meter offline for a week produces a hole that looks exactly like theft.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97880" y="4270248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9788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153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Unmetered consumption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48970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unbilled draw — the case utilities actually want to find.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51389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causes. One identical signature in the data.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Ministry of Power / PFC, FY2024-25 distribution utility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DEPTH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money has been spent. The losses stopped falling.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5943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37360"/>
            <a:ext cx="4736592" cy="1481328"/>
          </a:xfrm>
          <a:prstGeom prst="roundRect">
            <a:avLst>
              <a:gd name="adj" fmla="val 3704"/>
            </a:avLst>
          </a:prstGeom>
          <a:solidFill>
            <a:srgbClr val="FBEED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901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₹2.83 lakh crore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43230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under RDSS, ₹1.53 lakh crore of it for distribution infrastructure.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429000"/>
            <a:ext cx="4736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fell 21.91% → 15.5% on infrastructure alone, then stalled and ticked back up. The remaining loss is not the kind you fix with more hardware.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0" y="4434840"/>
            <a:ext cx="182880" cy="18288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4434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150608" y="4379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unattributed — the gap is visible at the feeder, invisible per meter.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0" y="4937760"/>
            <a:ext cx="182880" cy="18288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0" y="4937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150608" y="4882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is manual, slow, and guided by suspicion rather than evidence.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0" y="5440680"/>
            <a:ext cx="182880" cy="18288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5440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150608" y="53858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accusation costs a utility more than the unit it recovers.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RDSS target: 12–15% national AT&amp;C losses. Sources: Ministry of Power, PFC discom performance report.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deployed today, and where each one stops.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1F5F8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2029968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 / AMI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45059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beautifully. Reports consumption, not causation — the gap still has to be explained by a human.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200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73736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1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556248" y="2029968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5624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alarms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245059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 if usage drops 40%." Fixed rules fire on holidays and seasonal shifts; teams learn to ignore them.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3200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58768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1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86968" y="4151376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696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133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drives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5720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but expensive, and targeted by intuition or complaint rather than by evidence.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53218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3858768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1F5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556248" y="4151376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5624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04888" y="4133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ML research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56248" y="45720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published accuracy on one detector, evaluated offline. Rarely localizes, rarely explains, rarely deployed.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56248" y="53218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≠ action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detection. What it lacks is a defensible answer to "so where do I send the inspector, and why?"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&amp;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is the chain, not any single link.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642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claim no novelty in Isolation Forests, autoencoders, energy-balance auditing or explainable AI. Each is established. What does not exist as one working pipeline is this: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1F5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48716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395728"/>
            <a:ext cx="219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50592" y="2395728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1F5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42032" y="248716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23944" y="2395728"/>
            <a:ext cx="219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34256" y="2395728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1F5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25696" y="248716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007608" y="2395728"/>
            <a:ext cx="219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2395728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BEED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48716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hierarchically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91272" y="2395728"/>
            <a:ext cx="219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01584" y="2395728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1F5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93024" y="248716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774936" y="2395728"/>
            <a:ext cx="219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985248" y="2395728"/>
            <a:ext cx="1691640" cy="1234440"/>
          </a:xfrm>
          <a:prstGeom prst="roundRect">
            <a:avLst>
              <a:gd name="adj" fmla="val 4444"/>
            </a:avLst>
          </a:prstGeom>
          <a:solidFill>
            <a:srgbClr val="F1F5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76688" y="2487168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023360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4005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one verdict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462272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and the autoencoder fail differently. Calibrated to a common scale, agreement between them becomes evidence rather than noise.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97680" y="4023360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9768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005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when to say nobody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462272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feeder gap no meter explains is reported as unattributed loss at the feeder — not pinned on the highest scorer.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28432" y="4023360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2843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77072" y="4005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is defensible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4462272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come from the values that produced the score, so an inspector can check the reasoning before knocking on a door.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integration and workflow are the contribution; the underlying techniques are deliberately proven ones.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end to end on one laptop. No cloud.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293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Wokwi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meters, 2 zones,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feeder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82112" y="1783080"/>
            <a:ext cx="246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1920240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59352" y="19293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broker,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lines of Python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44184" y="1783080"/>
            <a:ext cx="246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91072" y="178308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5664" y="1920240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566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19293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validate; malformed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dropped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906256" y="1783080"/>
            <a:ext cx="246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53144" y="178308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317736" y="1920240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1773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83496" y="19293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2313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consumer-relative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streaming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53872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BEED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675888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069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autoencoder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182112" y="3538728"/>
            <a:ext cx="246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29000" y="353872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</p:spPr>
      </p:sp>
      <p:sp>
        <p:nvSpPr>
          <p:cNvPr id="34" name="Shape 32"/>
          <p:cNvSpPr/>
          <p:nvPr/>
        </p:nvSpPr>
        <p:spPr>
          <a:xfrm>
            <a:off x="3593592" y="3675888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593592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59352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593592" y="4069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0–100, four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bands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044184" y="3538728"/>
            <a:ext cx="246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91072" y="353872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BEEDF"/>
          </a:solidFill>
          <a:ln/>
        </p:spPr>
      </p:sp>
      <p:sp>
        <p:nvSpPr>
          <p:cNvPr id="40" name="Shape 38"/>
          <p:cNvSpPr/>
          <p:nvPr/>
        </p:nvSpPr>
        <p:spPr>
          <a:xfrm>
            <a:off x="6455664" y="3675888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55664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21424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55664" y="4069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→ Feeder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Zone → Consumer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906256" y="3538728"/>
            <a:ext cx="246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153144" y="353872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1F5F8"/>
          </a:solidFill>
          <a:ln/>
        </p:spPr>
      </p:sp>
      <p:sp>
        <p:nvSpPr>
          <p:cNvPr id="46" name="Shape 44"/>
          <p:cNvSpPr/>
          <p:nvPr/>
        </p:nvSpPr>
        <p:spPr>
          <a:xfrm>
            <a:off x="9317736" y="3675888"/>
            <a:ext cx="274320" cy="27432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317736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83496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dashboard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317736" y="4069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MQTT alert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66928" y="53492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2233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86968" y="5468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scikit-learn · paho-mqtt · flask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86968" y="5760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dependencies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4498848" y="5468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TensorFlow, no Mosquitto, no Docker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4498848" y="5760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110728" y="5468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 to train, &lt;1 s per frame to score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8110728" y="5760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laptop-grade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LOCALIZATION · EXPLAINABILITY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two models become one defensible number.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728216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98424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scores live on incompatible scales. Each is converted to its percentile within known-normal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788920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04495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−log₁₀(1−p) / 3.  Each extra "nine" of rarity adds fixed risk, so median-normal scores 0.10, not 0.50.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849624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813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10565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= 0.5·mean + 0.5·max.  Mean rewards agreement; max keeps what only one model can see.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910328"/>
            <a:ext cx="402336" cy="402336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873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0–100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51663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100·hybrid + 12·network evidence + 12·persistence. Evidence terms capped so imbalance alone can never convict.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537960" y="1737360"/>
          <a:ext cx="5074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537960" y="4956048"/>
            <a:ext cx="5074920" cy="1298448"/>
          </a:xfrm>
          <a:prstGeom prst="roundRect">
            <a:avLst>
              <a:gd name="adj" fmla="val 4225"/>
            </a:avLst>
          </a:prstGeom>
          <a:solidFill>
            <a:srgbClr val="FBEED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12280" y="5074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rule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535838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feeder gap exceeds its technical-loss floor AND no consumer scores ≥ 61 — report FEEDER, unattributed. Fires on 93% of network-event frames.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5989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says "high-risk anomaly — investigation required". Never "theft proven".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built, already measured.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774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774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messages, zero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on the wire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3774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readings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alone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53144" y="1691640"/>
            <a:ext cx="2615184" cy="13716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36024" y="18105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s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237744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 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246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behaviour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201168" cy="201168"/>
          </a:xfrm>
          <a:prstGeom prst="ellipse">
            <a:avLst/>
          </a:prstGeom>
          <a:solidFill>
            <a:srgbClr val="1771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657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602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telemetry: 92.2% NORMAL band, 0.1% high-risk — usable false-positive rate.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201168" cy="201168"/>
          </a:xfrm>
          <a:prstGeom prst="ellipse">
            <a:avLst/>
          </a:prstGeom>
          <a:solidFill>
            <a:srgbClr val="1771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0599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anomalies: flagged consumers match the ground-truth field the models never see.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572000"/>
            <a:ext cx="201168" cy="201168"/>
          </a:xfrm>
          <a:prstGeom prst="ellipse">
            <a:avLst/>
          </a:prstGeom>
          <a:solidFill>
            <a:srgbClr val="1771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572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5171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Network-only events: localized to the feeder, no consumer accused, in 93% of frames.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029200"/>
            <a:ext cx="201168" cy="201168"/>
          </a:xfrm>
          <a:prstGeom prst="ellipse">
            <a:avLst/>
          </a:prstGeom>
          <a:solidFill>
            <a:srgbClr val="1771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5029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49743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and NaN telemetry rejected without interrupting the stream.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246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6576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not one per meter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92277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consumer-relative, so the same trained model generalises from 5 meters to 50,000.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44988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already standard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47640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is what AMI head-ends speak. Swap the simulator for a serial or head-end feed; nothing downstream changes.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340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being wrong is bounded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6052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evidence terms and the unattributed rule keep false accusations structurally unlikely.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8251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measured by tests/test_pipeline.py on the working prototype, not projected.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IMPACT &amp; FUTURE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the loss without manufacturing suspicion.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point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957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AT&amp;C loss recovered is worth thousands of crores annually across India's discoms.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783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12–15%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3957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national RDSS target. Attribution — not more hardware — is what closes the last gap.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28432" y="1783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utility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028432" y="23957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AMI already produces the telemetry this needs. No new sensing required.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520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201168" cy="201168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3977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9227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AMI feed in place of the simulator — the MQTT contract is unchanged.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434840"/>
            <a:ext cx="201168" cy="201168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4434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3799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classification as a supervised layer once inspection outcomes exist as labels.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892040"/>
            <a:ext cx="201168" cy="201168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8371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prioritisation queue: rank by risk × recoverable energy × access cost.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349240"/>
            <a:ext cx="201168" cy="201168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349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5294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Feeder-segment localization below the zone, once sub-metering is available.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0" y="3520440"/>
            <a:ext cx="4937760" cy="2240280"/>
          </a:xfrm>
          <a:prstGeom prst="roundRect">
            <a:avLst>
              <a:gd name="adj" fmla="val 2449"/>
            </a:avLst>
          </a:prstGeom>
          <a:solidFill>
            <a:srgbClr val="1B304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3703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we will not cross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041648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produces an investigation priority, never a verdict. An energy gap has four honest explanations, and a tool that forgets that turns statistical noise into an accusation against a real household.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GridTrace AI  ·  Team Squad Mavericks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GridTrace AI</dc:title>
  <dc:subject>PptxGenJS Presentation</dc:subject>
  <dc:creator>Nirmal (Muthukumar R) - Team Squad Mavericks</dc:creator>
  <cp:lastModifiedBy>Nirmal (Muthukumar R) - Team Squad Mavericks</cp:lastModifiedBy>
  <cp:revision>1</cp:revision>
  <dcterms:created xsi:type="dcterms:W3CDTF">2026-09-06T02:17:44Z</dcterms:created>
  <dcterms:modified xsi:type="dcterms:W3CDTF">2026-09-06T02:17:44Z</dcterms:modified>
</cp:coreProperties>
</file>